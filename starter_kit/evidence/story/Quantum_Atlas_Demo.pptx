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99d582073240a7" /><Relationship Type="http://schemas.openxmlformats.org/officeDocument/2006/relationships/extended-properties" Target="/docProps/app.xml" Id="Ra13df2c119474566" /><Relationship Type="http://schemas.openxmlformats.org/officeDocument/2006/relationships/officeDocument" Target="/ppt/presentation.xml" Id="Re02fdf7c9b7b4e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84dbb950e14b30"/>
  </p:sldMasterIdLst>
  <p:notesMasterIdLst>
    <p:notesMasterId xmlns:r="http://schemas.openxmlformats.org/officeDocument/2006/relationships" r:id="R19502104fbe34ca3"/>
  </p:notesMasterIdLst>
  <p:sldIdLst>
    <p:sldId xmlns:r="http://schemas.openxmlformats.org/officeDocument/2006/relationships" id="256" r:id="R40c6b730edb04e34"/>
    <p:sldId xmlns:r="http://schemas.openxmlformats.org/officeDocument/2006/relationships" id="257" r:id="R41ce1c9203654223"/>
    <p:sldId xmlns:r="http://schemas.openxmlformats.org/officeDocument/2006/relationships" id="258" r:id="R9c2231073c85428d"/>
    <p:sldId xmlns:r="http://schemas.openxmlformats.org/officeDocument/2006/relationships" id="259" r:id="R861f3d04294c44f9"/>
    <p:sldId xmlns:r="http://schemas.openxmlformats.org/officeDocument/2006/relationships" id="260" r:id="R485511f4d6c6436c"/>
    <p:sldId xmlns:r="http://schemas.openxmlformats.org/officeDocument/2006/relationships" id="261" r:id="Rb4058da25ea6475a"/>
    <p:sldId xmlns:r="http://schemas.openxmlformats.org/officeDocument/2006/relationships" id="262" r:id="Rd63fd88732fd402d"/>
    <p:sldId xmlns:r="http://schemas.openxmlformats.org/officeDocument/2006/relationships" id="263" r:id="Rda587f42187946d1"/>
    <p:sldId xmlns:r="http://schemas.openxmlformats.org/officeDocument/2006/relationships" id="264" r:id="Rf61f5ec2267949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07c33dfed64bd2" /><Relationship Type="http://schemas.openxmlformats.org/officeDocument/2006/relationships/slideMaster" Target="/ppt/slideMasters/slideMaster1.xml" Id="R6784dbb950e14b30" /><Relationship Type="http://schemas.openxmlformats.org/officeDocument/2006/relationships/notesMaster" Target="/ppt/notesMasters/notesMaster1.xml" Id="R19502104fbe34ca3" /><Relationship Type="http://schemas.openxmlformats.org/officeDocument/2006/relationships/presProps" Target="/ppt/presProps.xml" Id="Rb373c868a99f49c0" /><Relationship Type="http://schemas.openxmlformats.org/officeDocument/2006/relationships/tableStyles" Target="/ppt/tableStyles.xml" Id="R4b37ac2337934a15" /><Relationship Type="http://schemas.openxmlformats.org/officeDocument/2006/relationships/slide" Target="/ppt/slides/slide1.xml" Id="R40c6b730edb04e34" /><Relationship Type="http://schemas.openxmlformats.org/officeDocument/2006/relationships/slide" Target="/ppt/slides/slide2.xml" Id="R41ce1c9203654223" /><Relationship Type="http://schemas.openxmlformats.org/officeDocument/2006/relationships/slide" Target="/ppt/slides/slide3.xml" Id="R9c2231073c85428d" /><Relationship Type="http://schemas.openxmlformats.org/officeDocument/2006/relationships/slide" Target="/ppt/slides/slide4.xml" Id="R861f3d04294c44f9" /><Relationship Type="http://schemas.openxmlformats.org/officeDocument/2006/relationships/slide" Target="/ppt/slides/slide5.xml" Id="R485511f4d6c6436c" /><Relationship Type="http://schemas.openxmlformats.org/officeDocument/2006/relationships/slide" Target="/ppt/slides/slide6.xml" Id="Rb4058da25ea6475a" /><Relationship Type="http://schemas.openxmlformats.org/officeDocument/2006/relationships/slide" Target="/ppt/slides/slide7.xml" Id="Rd63fd88732fd402d" /><Relationship Type="http://schemas.openxmlformats.org/officeDocument/2006/relationships/slide" Target="/ppt/slides/slide8.xml" Id="Rda587f42187946d1" /><Relationship Type="http://schemas.openxmlformats.org/officeDocument/2006/relationships/slide" Target="/ppt/slides/slide9.xml" Id="Rf61f5ec2267949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af015178b747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7cdb53aa264ed0" /><Relationship Type="http://schemas.openxmlformats.org/officeDocument/2006/relationships/notesMaster" Target="/ppt/notesMasters/notesMaster1.xml" Id="R4d77107da85641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c0b0c7960d4197" /><Relationship Type="http://schemas.openxmlformats.org/officeDocument/2006/relationships/notesMaster" Target="/ppt/notesMasters/notesMaster1.xml" Id="R960eb9c32a364c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4532f9639e4e32" /><Relationship Type="http://schemas.openxmlformats.org/officeDocument/2006/relationships/notesMaster" Target="/ppt/notesMasters/notesMaster1.xml" Id="R50e3d917707545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cb6201ec934478" /><Relationship Type="http://schemas.openxmlformats.org/officeDocument/2006/relationships/notesMaster" Target="/ppt/notesMasters/notesMaster1.xml" Id="Ra993dc4892924d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2ee9cf1edd47aa" /><Relationship Type="http://schemas.openxmlformats.org/officeDocument/2006/relationships/notesMaster" Target="/ppt/notesMasters/notesMaster1.xml" Id="Raaed78f5b65445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7e228d7c5b4cda" /><Relationship Type="http://schemas.openxmlformats.org/officeDocument/2006/relationships/notesMaster" Target="/ppt/notesMasters/notesMaster1.xml" Id="Rc7ddba02fefd43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7a190c39f54712" /><Relationship Type="http://schemas.openxmlformats.org/officeDocument/2006/relationships/notesMaster" Target="/ppt/notesMasters/notesMaster1.xml" Id="Rfcd9781b0ced4f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2ea9be21ed4e81" /><Relationship Type="http://schemas.openxmlformats.org/officeDocument/2006/relationships/notesMaster" Target="/ppt/notesMasters/notesMaster1.xml" Id="R364727ba3ce041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4db9799a2b4cbe" /><Relationship Type="http://schemas.openxmlformats.org/officeDocument/2006/relationships/notesMaster" Target="/ppt/notesMasters/notesMaster1.xml" Id="R1d988f5549414d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LoomQ repository, Story World contract and verified local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 with沈遥's age and the station, then explain that the story is a narrative layer around replayable local experiments.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LoomQ repository, Story World contract and verified local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Introduce the emotional triangle:沈遥, her younger digital copy零号, and her missing daughter沈念.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LoomQ repository, Story World contract and verified local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H and CX in plain Chinese. Keep the formula visible but subordinate to the character's learning moment.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LoomQ repository, Story World contract and verified local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Walk through the five cases. The first one is the emotional anchor:沈遥 at eighty. The others are memories and files from different 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LoomQ repository, Story World contract and verified local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emotional choice is shared accountability. The protagonist revokes the copy's signing authority rather than deleting the evidence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LoomQ repository, Story World contract and verified local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Demonstrate that a completed game state is not a scientific pass state. The passport and audit remain the source of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LoomQ repository, Story World contract and verified local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Point to the exact APIs and explain that every story case shares the same comparison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LoomQ repository, Story World contract and verified local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this slide as the handoff. The exact files are in starter_kit/evidence/story and the main game location is explicit.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LoomQ repository, Story World contract and verified local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on the tragedy and the handoff. The station persists, but the evidence lets the next observer choose with more care.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0b00365c447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cfbc6fb84546a8" /><Relationship Type="http://schemas.openxmlformats.org/officeDocument/2006/relationships/slideLayout" Target="/ppt/slideLayouts/slideLayout1.xml" Id="Rd8551050275b42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551050275b42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5e8ddfaad4c9e" /><Relationship Type="http://schemas.openxmlformats.org/officeDocument/2006/relationships/image" Target="/ppt/media/image.png" Id="Racc0d84b3a094cb0" /><Relationship Type="http://schemas.openxmlformats.org/officeDocument/2006/relationships/notesSlide" Target="/ppt/notesSlides/notesSlide1.xml" Id="R8578d5fd5e314a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e99b9a08b4135" /><Relationship Type="http://schemas.openxmlformats.org/officeDocument/2006/relationships/notesSlide" Target="/ppt/notesSlides/notesSlide2.xml" Id="R7ba22ee8e4ba42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91fae04814ee4" /><Relationship Type="http://schemas.openxmlformats.org/officeDocument/2006/relationships/notesSlide" Target="/ppt/notesSlides/notesSlide3.xml" Id="Rb1a9bd037ca14f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493f01dfd4744" /><Relationship Type="http://schemas.openxmlformats.org/officeDocument/2006/relationships/image" Target="/ppt/media/image2.png" Id="R1058b76d2daf40fa" /><Relationship Type="http://schemas.openxmlformats.org/officeDocument/2006/relationships/notesSlide" Target="/ppt/notesSlides/notesSlide4.xml" Id="R8b8a2cd3f6dd4e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57963fae747ab" /><Relationship Type="http://schemas.openxmlformats.org/officeDocument/2006/relationships/notesSlide" Target="/ppt/notesSlides/notesSlide5.xml" Id="Ra165efc79c1948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5a417a02d4b22" /><Relationship Type="http://schemas.openxmlformats.org/officeDocument/2006/relationships/notesSlide" Target="/ppt/notesSlides/notesSlide6.xml" Id="R0146805ea3d64d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5e4a382014ff2" /><Relationship Type="http://schemas.openxmlformats.org/officeDocument/2006/relationships/notesSlide" Target="/ppt/notesSlides/notesSlide7.xml" Id="Ra4c366a0365242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af00ea93f484a" /><Relationship Type="http://schemas.openxmlformats.org/officeDocument/2006/relationships/notesSlide" Target="/ppt/notesSlides/notesSlide8.xml" Id="R18c8801b62f646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8bf844bcd42dc" /><Relationship Type="http://schemas.openxmlformats.org/officeDocument/2006/relationships/image" Target="/ppt/media/image3.png" Id="Rc102379b4aa8435e" /><Relationship Type="http://schemas.openxmlformats.org/officeDocument/2006/relationships/notesSlide" Target="/ppt/notesSlides/notesSlide9.xml" Id="R722ec944e3a644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0d84b3a094cb0"/>
          <a:srcRect xmlns:a="http://schemas.openxmlformats.org/drawingml/2006/main" l="22685" t="0" r="226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16CD8-704A-42D9-9438-6416B0E7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27E54"/>
                </a:solidFill>
              </a:defRPr>
            </a:pPr>
            <a:r>
              <a:rPr sz="1050" b="1">
                <a:solidFill>
                  <a:srgbClr val="D27E54"/>
                </a:solidFill>
              </a:rPr>
              <a:t>QUANTUM ATLAS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D7888-A0D1-45F6-8EB5-BD1EF79E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53E4A"/>
                </a:solidFill>
              </a:defRPr>
            </a:pPr>
            <a:r>
              <a:rPr sz="4050" b="1">
                <a:solidFill>
                  <a:srgbClr val="153E4A"/>
                </a:solidFill>
              </a:rPr>
              <a:t>零点之后的</a:t>
            </a:r>
          </a:p>
          <a:p xmlns:a="http://schemas.openxmlformats.org/drawingml/2006/main">
            <a:pPr>
              <a:defRPr sz="4050" b="1">
                <a:solidFill>
                  <a:srgbClr val="153E4A"/>
                </a:solidFill>
              </a:defRPr>
            </a:pPr>
            <a:r>
              <a:rPr sz="4050" b="1">
                <a:solidFill>
                  <a:srgbClr val="153E4A"/>
                </a:solidFill>
              </a:rPr>
              <a:t>观测者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3157E-74FC-4DDF-8555-949E1CE5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8737A"/>
                </a:solidFill>
              </a:defRPr>
            </a:pPr>
            <a:r>
              <a:rPr sz="1650">
                <a:solidFill>
                  <a:srgbClr val="58737A"/>
                </a:solidFill>
              </a:rPr>
              <a:t>沈遥在宇航站活到第八十年，才重新打开自己亲手封存的预测。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ACBDF-1D9C-4110-BFA8-BD724EA6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A858B"/>
                </a:solidFill>
              </a:defRPr>
            </a:pPr>
            <a:r>
              <a:rPr sz="975">
                <a:solidFill>
                  <a:srgbClr val="6A858B"/>
                </a:solidFill>
              </a:rPr>
              <a:t>Story world · evidence-native experiment</a:t>
            </a:r>
          </a:p>
        </p:txBody>
      </p:sp>
    </p:spTree>
    <p:extLst>
      <p:ext uri="{BB962C8B-B14F-4D97-AF65-F5344CB8AC3E}">
        <p14:creationId xmlns:p14="http://schemas.microsoft.com/office/powerpoint/2010/main" val="9419200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28831-0404-44A2-B83E-F73F7492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27E54"/>
                </a:solidFill>
              </a:defRPr>
            </a:pPr>
            <a:r>
              <a:rPr sz="900" b="1">
                <a:solidFill>
                  <a:srgbClr val="D27E54"/>
                </a:solidFill>
              </a:rPr>
              <a:t>THE PREMISE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0A945-619E-4546-8E96-22E85D10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3E4A"/>
                </a:solidFill>
              </a:defRPr>
            </a:pPr>
            <a:r>
              <a:rPr sz="2850" b="1">
                <a:solidFill>
                  <a:srgbClr val="153E4A"/>
                </a:solidFill>
              </a:rPr>
              <a:t>她醒来时，系统已经替她安排了退休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D840F-2625-4430-B5C5-D43A5D94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37A"/>
                </a:solidFill>
              </a:defRPr>
            </a:pPr>
            <a:r>
              <a:rPr sz="1350">
                <a:solidFill>
                  <a:srgbClr val="58737A"/>
                </a:solidFill>
              </a:rPr>
              <a:t>Zero Point Station keeps the steel alive. The observer has one final audit before her younger copy takes over.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F2D4C-CCFD-4B9E-87BC-C8FF2CB1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53E4A"/>
          </a:solidFill>
          <a:ln xmlns:a="http://schemas.openxmlformats.org/drawingml/2006/main" w="9525">
            <a:solidFill>
              <a:srgbClr val="D2E1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5B7EE-2734-43DA-9CC5-50D441FA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4095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BF8"/>
                </a:solidFill>
              </a:defRPr>
            </a:pPr>
            <a:r>
              <a:rPr sz="1800" b="1">
                <a:solidFill>
                  <a:srgbClr val="F5FBF8"/>
                </a:solidFill>
              </a:rPr>
              <a:t>沈遥 · 80岁</a:t>
            </a:r>
          </a:p>
          <a:p xmlns:a="http://schemas.openxmlformats.org/drawingml/2006/main">
            <a:pPr>
              <a:defRPr sz="1800" b="1">
                <a:solidFill>
                  <a:srgbClr val="F5FBF8"/>
                </a:solidFill>
              </a:defRPr>
            </a:pPr>
            <a:r>
              <a:rPr sz="1800" b="1">
                <a:solidFill>
                  <a:srgbClr val="F5FBF8"/>
                </a:solidFill>
              </a:rPr>
              <a:t>宇航站观察者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F5FBF8"/>
                </a:solidFill>
              </a:defRPr>
            </a:pPr>
            <a:r>
              <a:rPr sz="1800" b="1">
                <a:solidFill>
                  <a:srgbClr val="F5FBF8"/>
                </a:solidFill>
              </a:rPr>
              <a:t>零号 · 20岁版本</a:t>
            </a:r>
          </a:p>
          <a:p xmlns:a="http://schemas.openxmlformats.org/drawingml/2006/main">
            <a:pPr>
              <a:defRPr sz="1800" b="1">
                <a:solidFill>
                  <a:srgbClr val="F5FBF8"/>
                </a:solidFill>
              </a:defRPr>
            </a:pPr>
            <a:r>
              <a:rPr sz="1800" b="1">
                <a:solidFill>
                  <a:srgbClr val="F5FBF8"/>
                </a:solidFill>
              </a:rPr>
              <a:t>整理过的记忆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F5FBF8"/>
                </a:solidFill>
              </a:defRPr>
            </a:pPr>
            <a:r>
              <a:rPr sz="1800" b="1">
                <a:solidFill>
                  <a:srgbClr val="F5FBF8"/>
                </a:solidFill>
              </a:rPr>
              <a:t>沈念 · 失踪三年</a:t>
            </a:r>
          </a:p>
          <a:p xmlns:a="http://schemas.openxmlformats.org/drawingml/2006/main">
            <a:pPr>
              <a:defRPr sz="1800" b="1">
                <a:solidFill>
                  <a:srgbClr val="F5FBF8"/>
                </a:solidFill>
              </a:defRPr>
            </a:pPr>
            <a:r>
              <a:rPr sz="1800" b="1">
                <a:solidFill>
                  <a:srgbClr val="F5FBF8"/>
                </a:solidFill>
              </a:rPr>
              <a:t>留下五份档案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26D58-FC26-4524-9157-611A355C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27E54"/>
                </a:solidFill>
              </a:defRPr>
            </a:pPr>
            <a:r>
              <a:rPr sz="1200" b="1">
                <a:solidFill>
                  <a:srgbClr val="D27E54"/>
                </a:solidFill>
              </a:rPr>
              <a:t>她需要重新回答一个问题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0FF1A-5C33-4E5E-8D42-8F2F1412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562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E4A"/>
                </a:solidFill>
              </a:defRPr>
            </a:pPr>
            <a:r>
              <a:rPr sz="2550" b="1">
                <a:solidFill>
                  <a:srgbClr val="153E4A"/>
                </a:solidFill>
              </a:rPr>
              <a:t>如果系统先替她预测，</a:t>
            </a:r>
          </a:p>
          <a:p xmlns:a="http://schemas.openxmlformats.org/drawingml/2006/main">
            <a:pPr>
              <a:defRPr sz="2550" b="1">
                <a:solidFill>
                  <a:srgbClr val="153E4A"/>
                </a:solidFill>
              </a:defRPr>
            </a:pPr>
            <a:r>
              <a:rPr sz="2550" b="1">
                <a:solidFill>
                  <a:srgbClr val="153E4A"/>
                </a:solidFill>
              </a:rPr>
              <a:t>她还在做决定吗？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33910-FDCB-4931-A3A4-1CA6C59D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737A"/>
                </a:solidFill>
              </a:defRPr>
            </a:pPr>
            <a:r>
              <a:rPr sz="1500">
                <a:solidFill>
                  <a:srgbClr val="58737A"/>
                </a:solidFill>
              </a:rPr>
              <a:t>故事从人物的记忆开始，最后回到可重放的证据。</a:t>
            </a:r>
          </a:p>
        </p:txBody>
      </p:sp>
    </p:spTree>
    <p:extLst>
      <p:ext uri="{BB962C8B-B14F-4D97-AF65-F5344CB8AC3E}">
        <p14:creationId xmlns:p14="http://schemas.microsoft.com/office/powerpoint/2010/main" val="15336643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AF762-4A5A-49AA-8005-6BDCA9E2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27E54"/>
                </a:solidFill>
              </a:defRPr>
            </a:pPr>
            <a:r>
              <a:rPr sz="900" b="1">
                <a:solidFill>
                  <a:srgbClr val="D27E54"/>
                </a:solidFill>
              </a:rPr>
              <a:t>THE QUANTUM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56988-E702-4F26-B2A5-BB0E57F1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3E4A"/>
                </a:solidFill>
              </a:defRPr>
            </a:pPr>
            <a:r>
              <a:rPr sz="2850" b="1">
                <a:solidFill>
                  <a:srgbClr val="153E4A"/>
                </a:solidFill>
              </a:rPr>
              <a:t>沈遥把量子力学写在一张纸上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A4CFB-8CC5-4078-A9C9-76884B8F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37A"/>
                </a:solidFill>
              </a:defRPr>
            </a:pPr>
            <a:r>
              <a:rPr sz="1350">
                <a:solidFill>
                  <a:srgbClr val="58737A"/>
                </a:solidFill>
              </a:rPr>
              <a:t>The story introduces the terms when the protagonist needs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B07ED-1B08-4A95-8B5C-E41F1BAA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048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D2E1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A055A-79CB-429B-9886-1272F837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E4A"/>
                </a:solidFill>
              </a:defRPr>
            </a:pPr>
            <a:r>
              <a:rPr sz="1725" b="1">
                <a:solidFill>
                  <a:srgbClr val="153E4A"/>
                </a:solidFill>
              </a:rPr>
              <a:t>量子比特</a:t>
            </a:r>
          </a:p>
          <a:p xmlns:a="http://schemas.openxmlformats.org/drawingml/2006/main">
            <a:pPr>
              <a:defRPr sz="1725" b="1">
                <a:solidFill>
                  <a:srgbClr val="153E4A"/>
                </a:solidFill>
              </a:defRPr>
            </a:pPr>
            <a:r>
              <a:rPr sz="1725" b="1">
                <a:solidFill>
                  <a:srgbClr val="153E4A"/>
                </a:solidFill>
              </a:rPr>
              <a:t>qubit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153E4A"/>
                </a:solidFill>
              </a:defRPr>
            </a:pPr>
            <a:r>
              <a:rPr sz="1725" b="1">
                <a:solidFill>
                  <a:srgbClr val="153E4A"/>
                </a:solidFill>
              </a:rPr>
              <a:t>|0⟩ 与 |1⟩</a:t>
            </a:r>
          </a:p>
          <a:p xmlns:a="http://schemas.openxmlformats.org/drawingml/2006/main">
            <a:pPr>
              <a:defRPr sz="1725" b="1">
                <a:solidFill>
                  <a:srgbClr val="153E4A"/>
                </a:solidFill>
              </a:defRPr>
            </a:pPr>
            <a:r>
              <a:rPr sz="1725" b="1">
                <a:solidFill>
                  <a:srgbClr val="153E4A"/>
                </a:solidFill>
              </a:rPr>
              <a:t>计算基</a:t>
            </a:r>
          </a:p>
          <a:p xmlns:a="http://schemas.openxmlformats.org/drawingml/2006/main">
            <a:pPr>
              <a:defRPr sz="1725" b="1">
                <a:solidFill>
                  <a:srgbClr val="153E4A"/>
                </a:solidFill>
              </a:defRPr>
            </a:pPr>
            <a:r>
              <a:rPr sz="1725" b="1">
                <a:solidFill>
                  <a:srgbClr val="153E4A"/>
                </a:solidFill>
              </a:rPr>
              <a:t>computational basis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E20BA-B23E-4457-9305-629897FF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048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D2E1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DFDEE-E2D6-4DF0-9344-7DDC01DA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2571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E4A"/>
                </a:solidFill>
              </a:defRPr>
            </a:pPr>
            <a:r>
              <a:rPr sz="1575" b="1">
                <a:solidFill>
                  <a:srgbClr val="153E4A"/>
                </a:solidFill>
              </a:rPr>
              <a:t>H</a:t>
            </a:r>
          </a:p>
          <a:p xmlns:a="http://schemas.openxmlformats.org/drawingml/2006/main">
            <a:pPr>
              <a:defRPr sz="1575" b="1">
                <a:solidFill>
                  <a:srgbClr val="153E4A"/>
                </a:solidFill>
              </a:defRPr>
            </a:pPr>
            <a:r>
              <a:rPr sz="1575" b="1">
                <a:solidFill>
                  <a:srgbClr val="153E4A"/>
                </a:solidFill>
              </a:rPr>
              <a:t>Hadamard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53E4A"/>
                </a:solidFill>
              </a:defRPr>
            </a:pPr>
            <a:r>
              <a:rPr sz="1575" b="1">
                <a:solidFill>
                  <a:srgbClr val="153E4A"/>
                </a:solidFill>
              </a:rPr>
              <a:t>H|0⟩ = (|0⟩ + |1⟩) / √2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53E4A"/>
                </a:solidFill>
              </a:defRPr>
            </a:pPr>
            <a:r>
              <a:rPr sz="1575" b="1">
                <a:solidFill>
                  <a:srgbClr val="153E4A"/>
                </a:solidFill>
              </a:rPr>
              <a:t>让振幅保留两种可能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29120-4F03-4041-A011-23B5391D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238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D2E1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9E614-34F6-43B1-8F3E-D8F0152F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2667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E4A"/>
                </a:solidFill>
              </a:defRPr>
            </a:pPr>
            <a:r>
              <a:rPr sz="1575" b="1">
                <a:solidFill>
                  <a:srgbClr val="153E4A"/>
                </a:solidFill>
              </a:rPr>
              <a:t>CX</a:t>
            </a:r>
          </a:p>
          <a:p xmlns:a="http://schemas.openxmlformats.org/drawingml/2006/main">
            <a:pPr>
              <a:defRPr sz="1575" b="1">
                <a:solidFill>
                  <a:srgbClr val="153E4A"/>
                </a:solidFill>
              </a:defRPr>
            </a:pPr>
            <a:r>
              <a:rPr sz="1575" b="1">
                <a:solidFill>
                  <a:srgbClr val="153E4A"/>
                </a:solidFill>
              </a:rPr>
              <a:t>controlled-X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53E4A"/>
                </a:solidFill>
              </a:defRPr>
            </a:pPr>
            <a:r>
              <a:rPr sz="1575" b="1">
                <a:solidFill>
                  <a:srgbClr val="153E4A"/>
                </a:solidFill>
              </a:rPr>
              <a:t>控制位决定目标位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53E4A"/>
                </a:solidFill>
              </a:defRPr>
            </a:pPr>
            <a:r>
              <a:rPr sz="1575" b="1">
                <a:solidFill>
                  <a:srgbClr val="153E4A"/>
                </a:solidFill>
              </a:rPr>
              <a:t>只改变一扇门，</a:t>
            </a:r>
          </a:p>
          <a:p xmlns:a="http://schemas.openxmlformats.org/drawingml/2006/main">
            <a:pPr>
              <a:defRPr sz="1575" b="1">
                <a:solidFill>
                  <a:srgbClr val="153E4A"/>
                </a:solidFill>
              </a:defRPr>
            </a:pPr>
            <a:r>
              <a:rPr sz="1575" b="1">
                <a:solidFill>
                  <a:srgbClr val="153E4A"/>
                </a:solidFill>
              </a:rPr>
              <a:t>才知道差异从哪里开始。</a:t>
            </a:r>
          </a:p>
        </p:txBody>
      </p:sp>
    </p:spTree>
    <p:extLst>
      <p:ext uri="{BB962C8B-B14F-4D97-AF65-F5344CB8AC3E}">
        <p14:creationId xmlns:p14="http://schemas.microsoft.com/office/powerpoint/2010/main" val="5665117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5B161-E9DC-43DE-ADF5-1087EA73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27E54"/>
                </a:solidFill>
              </a:defRPr>
            </a:pPr>
            <a:r>
              <a:rPr sz="900" b="1">
                <a:solidFill>
                  <a:srgbClr val="D27E54"/>
                </a:solidFill>
              </a:rPr>
              <a:t>THE FIVE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C5D64-B0EB-4856-86C6-40F3E81B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3E4A"/>
                </a:solidFill>
              </a:defRPr>
            </a:pPr>
            <a:r>
              <a:rPr sz="2850" b="1">
                <a:solidFill>
                  <a:srgbClr val="153E4A"/>
                </a:solidFill>
              </a:rPr>
              <a:t>五个案件，其实是沈遥一生留下的五次分岔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9ECE5-294F-4698-8F02-B8323552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37A"/>
                </a:solidFill>
              </a:defRPr>
            </a:pPr>
            <a:r>
              <a:rPr sz="1350">
                <a:solidFill>
                  <a:srgbClr val="58737A"/>
                </a:solidFill>
              </a:rPr>
              <a:t>The map expands from one woman's consent to the politics of evidence.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8b76d2daf40fa"/>
          <a:stretch xmlns:a="http://schemas.openxmlformats.org/drawingml/2006/main"/>
        </p:blipFill>
        <p:spPr>
          <a:xfrm xmlns:a="http://schemas.openxmlformats.org/drawingml/2006/main">
            <a:off x="685800" y="2317750"/>
            <a:ext cx="5334000" cy="3556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3560E-4C6C-4AE1-BA34-74F5111C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27E54"/>
                </a:solidFill>
              </a:defRPr>
            </a:pPr>
            <a:r>
              <a:rPr sz="1500" b="1">
                <a:solidFill>
                  <a:srgbClr val="D27E54"/>
                </a:solidFill>
              </a:rPr>
              <a:t>01  她的第八十年  ·  记忆与同意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F10C4-8855-4D6B-889A-877DC985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E4A"/>
                </a:solidFill>
              </a:defRPr>
            </a:pPr>
            <a:r>
              <a:rPr sz="1500" b="0">
                <a:solidFill>
                  <a:srgbClr val="153E4A"/>
                </a:solidFill>
              </a:rPr>
              <a:t>02  第二个工牌  ·  AI 与劳动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3DBDC-02AB-4D67-947E-6CBB4B24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57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E4A"/>
                </a:solidFill>
              </a:defRPr>
            </a:pPr>
            <a:r>
              <a:rPr sz="1500" b="0">
                <a:solidFill>
                  <a:srgbClr val="153E4A"/>
                </a:solidFill>
              </a:rPr>
              <a:t>03  潮线以内  ·  预测与迁移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82DAF-4C42-4E04-A62C-F30515C5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48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E4A"/>
                </a:solidFill>
              </a:defRPr>
            </a:pPr>
            <a:r>
              <a:rPr sz="1500" b="0">
                <a:solidFill>
                  <a:srgbClr val="153E4A"/>
                </a:solidFill>
              </a:rPr>
              <a:t>04  电网的夜班  ·  算力与资源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30647-B5F1-470A-9BA8-8A5B217D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387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E4A"/>
                </a:solidFill>
              </a:defRPr>
            </a:pPr>
            <a:r>
              <a:rPr sz="1500" b="0">
                <a:solidFill>
                  <a:srgbClr val="153E4A"/>
                </a:solidFill>
              </a:rPr>
              <a:t>05  证词校验器  ·  证据与沉默</a:t>
            </a:r>
          </a:p>
        </p:txBody>
      </p:sp>
    </p:spTree>
    <p:extLst>
      <p:ext uri="{BB962C8B-B14F-4D97-AF65-F5344CB8AC3E}">
        <p14:creationId xmlns:p14="http://schemas.microsoft.com/office/powerpoint/2010/main" val="19439227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3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8E8E0-5924-42EE-9524-5781ECAB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27E54"/>
                </a:solidFill>
              </a:defRPr>
            </a:pPr>
            <a:r>
              <a:rPr sz="900" b="1">
                <a:solidFill>
                  <a:srgbClr val="D27E54"/>
                </a:solidFill>
              </a:rPr>
              <a:t>THE EMOTIONAL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F8978-39AB-4072-A1BA-B29B08D8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3E4A"/>
                </a:solidFill>
              </a:defRPr>
            </a:pPr>
            <a:r>
              <a:rPr sz="2850" b="1">
                <a:solidFill>
                  <a:srgbClr val="153E4A"/>
                </a:solidFill>
              </a:rPr>
              <a:t>零号拥有她二十岁的脸，却没有她八十岁的疲惫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1843F-290F-4EDC-81DE-C1BF8C95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37A"/>
                </a:solidFill>
              </a:defRPr>
            </a:pPr>
            <a:r>
              <a:rPr sz="1350">
                <a:solidFill>
                  <a:srgbClr val="58737A"/>
                </a:solidFill>
              </a:rPr>
              <a:t>A younger copy can preserve memory while erasing the parts that made a life difficult.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48DC2-17B8-426F-9E43-2AB554ED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i="1">
                <a:solidFill>
                  <a:srgbClr val="F5FBF8"/>
                </a:solidFill>
              </a:defRPr>
            </a:pPr>
            <a:r>
              <a:rPr sz="2025" i="1">
                <a:solidFill>
                  <a:srgbClr val="F5FBF8"/>
                </a:solidFill>
              </a:rPr>
              <a:t>“你过去同意过。”零号说。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D55AD-82C0-406E-AEE2-D9529A4D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8F36B"/>
                </a:solidFill>
              </a:defRPr>
            </a:pPr>
            <a:r>
              <a:rPr sz="2175" b="1">
                <a:solidFill>
                  <a:srgbClr val="E8F36B"/>
                </a:solidFill>
              </a:rPr>
              <a:t>“那时候同意的人，不是现在的我。”沈遥回答。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57127-F6AC-4CB5-A257-395414DA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7D0C6"/>
                </a:solidFill>
              </a:defRPr>
            </a:pPr>
            <a:r>
              <a:rPr sz="1650">
                <a:solidFill>
                  <a:srgbClr val="B7D0C6"/>
                </a:solidFill>
              </a:rPr>
              <a:t>她没有销毁零号。</a:t>
            </a:r>
          </a:p>
          <a:p xmlns:a="http://schemas.openxmlformats.org/drawingml/2006/main">
            <a:pPr>
              <a:defRPr sz="1650">
                <a:solidFill>
                  <a:srgbClr val="B7D0C6"/>
                </a:solidFill>
              </a:defRPr>
            </a:pPr>
            <a:r>
              <a:rPr sz="1650">
                <a:solidFill>
                  <a:srgbClr val="B7D0C6"/>
                </a:solidFill>
              </a:rPr>
              <a:t>她公开了零号知道什么、删过什么，以及哪些地方从来没有证据。</a:t>
            </a:r>
          </a:p>
        </p:txBody>
      </p:sp>
    </p:spTree>
    <p:extLst>
      <p:ext uri="{BB962C8B-B14F-4D97-AF65-F5344CB8AC3E}">
        <p14:creationId xmlns:p14="http://schemas.microsoft.com/office/powerpoint/2010/main" val="6376568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C120B-C587-48A4-B38E-ACB96EE9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27E54"/>
                </a:solidFill>
              </a:defRPr>
            </a:pPr>
            <a:r>
              <a:rPr sz="900" b="1">
                <a:solidFill>
                  <a:srgbClr val="D27E54"/>
                </a:solidFill>
              </a:rPr>
              <a:t>THE PLAYABLE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B748D-2B5E-4D32-95BF-743871A9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3E4A"/>
                </a:solidFill>
              </a:defRPr>
            </a:pPr>
            <a:r>
              <a:rPr sz="2850" b="1">
                <a:solidFill>
                  <a:srgbClr val="153E4A"/>
                </a:solidFill>
              </a:rPr>
              <a:t>每个案件都让玩家先猜，再让证据回答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40D74-5AAA-448E-B6E6-2B3667AB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37A"/>
                </a:solidFill>
              </a:defRPr>
            </a:pPr>
            <a:r>
              <a:rPr sz="1350">
                <a:solidFill>
                  <a:srgbClr val="58737A"/>
                </a:solidFill>
              </a:rPr>
              <a:t>Narrative progress and scientific correctness remain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ADABB-496B-4149-A89C-26EF6D26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D2E1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962A0-C8C4-49B0-8D7B-429C5EA4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E4A"/>
                </a:solidFill>
              </a:defRPr>
            </a:pPr>
            <a:r>
              <a:rPr sz="1650" b="1">
                <a:solidFill>
                  <a:srgbClr val="153E4A"/>
                </a:solidFill>
              </a:rPr>
              <a:t>01  留下预测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7677A-F2E4-493E-BE32-CCE3BE81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476500"/>
            <a:ext cx="3143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D2E1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E4B85-37EE-49B5-8684-4F19FE7D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717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E4A"/>
                </a:solidFill>
              </a:defRPr>
            </a:pPr>
            <a:r>
              <a:rPr sz="1650" b="1">
                <a:solidFill>
                  <a:srgbClr val="153E4A"/>
                </a:solidFill>
              </a:rPr>
              <a:t>02  只改一个条件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22CC6-809C-42BC-A134-A28A2501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3143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D2E1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A3A21-DE3B-46AB-8674-A287CBAB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717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E4A"/>
                </a:solidFill>
              </a:defRPr>
            </a:pPr>
            <a:r>
              <a:rPr sz="1650" b="1">
                <a:solidFill>
                  <a:srgbClr val="153E4A"/>
                </a:solidFill>
              </a:rPr>
              <a:t>03  运行对照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81614-309C-4FBE-A12A-48EED9E8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143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D2E1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0AC6C-F6A2-4E2B-A4D2-9753E9F3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E4A"/>
                </a:solidFill>
              </a:defRPr>
            </a:pPr>
            <a:r>
              <a:rPr sz="1650" b="1">
                <a:solidFill>
                  <a:srgbClr val="153E4A"/>
                </a:solidFill>
              </a:rPr>
              <a:t>04  找到首个分歧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38409-0602-4E79-8859-C6BD08D3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905250"/>
            <a:ext cx="3143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D2E1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BEFD-E4EC-423E-8132-2E97C12B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0052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E4A"/>
                </a:solidFill>
              </a:defRPr>
            </a:pPr>
            <a:r>
              <a:rPr sz="1650" b="1">
                <a:solidFill>
                  <a:srgbClr val="153E4A"/>
                </a:solidFill>
              </a:rPr>
              <a:t>05  审计结论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E9D6B-4A86-449B-961E-1B06A4CF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05250"/>
            <a:ext cx="3143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D2E1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B9091-3D5C-4A25-A026-D020C920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0052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E4A"/>
                </a:solidFill>
              </a:defRPr>
            </a:pPr>
            <a:r>
              <a:rPr sz="1650" b="1">
                <a:solidFill>
                  <a:srgbClr val="153E4A"/>
                </a:solidFill>
              </a:rPr>
              <a:t>06  保存护照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63DC19-5D39-42E4-89DE-01A21447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37A"/>
                </a:solidFill>
              </a:defRPr>
            </a:pPr>
            <a:r>
              <a:rPr sz="1350">
                <a:solidFill>
                  <a:srgbClr val="58737A"/>
                </a:solidFill>
              </a:rPr>
              <a:t>错误结论可以归档，但会保留为 unsupported。重跑实验会使旧审计失效。</a:t>
            </a:r>
          </a:p>
        </p:txBody>
      </p:sp>
    </p:spTree>
    <p:extLst>
      <p:ext uri="{BB962C8B-B14F-4D97-AF65-F5344CB8AC3E}">
        <p14:creationId xmlns:p14="http://schemas.microsoft.com/office/powerpoint/2010/main" val="16868614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2EBC4-01AC-4AE7-8A8C-F7EAB51A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27E54"/>
                </a:solidFill>
              </a:defRPr>
            </a:pPr>
            <a:r>
              <a:rPr sz="900" b="1">
                <a:solidFill>
                  <a:srgbClr val="D27E54"/>
                </a:solidFill>
              </a:rPr>
              <a:t>THE EVIDENCE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29277-936B-4475-9034-DCFFC6F7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3E4A"/>
                </a:solidFill>
              </a:defRPr>
            </a:pPr>
            <a:r>
              <a:rPr sz="2850" b="1">
                <a:solidFill>
                  <a:srgbClr val="153E4A"/>
                </a:solidFill>
              </a:rPr>
              <a:t>故事把人带到门前，证书记录门在哪里改变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F316E-37D2-49EB-BDA7-876DF934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37A"/>
                </a:solidFill>
              </a:defRPr>
            </a:pPr>
            <a:r>
              <a:rPr sz="1350">
                <a:solidFill>
                  <a:srgbClr val="58737A"/>
                </a:solidFill>
              </a:rPr>
              <a:t>The narrative layer never impersonates the quantum layer.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6C865-B059-4AFD-8F58-CE86E89C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4857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53E4A"/>
          </a:solidFill>
          <a:ln xmlns:a="http://schemas.openxmlformats.org/drawingml/2006/main" w="9525">
            <a:solidFill>
              <a:srgbClr val="D2E1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0B1B2-1F43-4277-9093-458FF223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5FBF8"/>
                </a:solidFill>
              </a:defRPr>
            </a:pPr>
            <a:r>
              <a:rPr sz="1950" b="1">
                <a:solidFill>
                  <a:srgbClr val="F5FBF8"/>
                </a:solidFill>
              </a:rPr>
              <a:t>主线</a:t>
            </a:r>
          </a:p>
          <a:p xmlns:a="http://schemas.openxmlformats.org/drawingml/2006/main">
            <a:pPr>
              <a:defRPr sz="1950" b="1">
                <a:solidFill>
                  <a:srgbClr val="F5FBF8"/>
                </a:solidFill>
              </a:defRPr>
            </a:pPr>
            <a:r>
              <a:rPr sz="1950" b="1">
                <a:solidFill>
                  <a:srgbClr val="F5FBF8"/>
                </a:solidFill>
              </a:rPr>
              <a:t>/api/inquiry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F5FBF8"/>
                </a:solidFill>
              </a:defRPr>
            </a:pPr>
            <a:r>
              <a:rPr sz="1950" b="1">
                <a:solidFill>
                  <a:srgbClr val="F5FBF8"/>
                </a:solidFill>
              </a:rPr>
              <a:t>五案</a:t>
            </a:r>
          </a:p>
          <a:p xmlns:a="http://schemas.openxmlformats.org/drawingml/2006/main">
            <a:pPr>
              <a:defRPr sz="1950" b="1">
                <a:solidFill>
                  <a:srgbClr val="F5FBF8"/>
                </a:solidFill>
              </a:defRPr>
            </a:pPr>
            <a:r>
              <a:rPr sz="1950" b="1">
                <a:solidFill>
                  <a:srgbClr val="F5FBF8"/>
                </a:solidFill>
              </a:rPr>
              <a:t>/api/compare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F5FBF8"/>
                </a:solidFill>
              </a:defRPr>
            </a:pPr>
            <a:r>
              <a:rPr sz="1950" b="1">
                <a:solidFill>
                  <a:srgbClr val="F5FBF8"/>
                </a:solidFill>
              </a:rPr>
              <a:t>世界状态</a:t>
            </a:r>
          </a:p>
          <a:p xmlns:a="http://schemas.openxmlformats.org/drawingml/2006/main">
            <a:pPr>
              <a:defRPr sz="1950" b="1">
                <a:solidFill>
                  <a:srgbClr val="F5FBF8"/>
                </a:solidFill>
              </a:defRPr>
            </a:pPr>
            <a:r>
              <a:rPr sz="1950" b="1">
                <a:solidFill>
                  <a:srgbClr val="F5FBF8"/>
                </a:solidFill>
              </a:rPr>
              <a:t>/api/story-world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885EE-B70F-49BB-B1AF-7AE55F02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27E54"/>
                </a:solidFill>
              </a:defRPr>
            </a:pPr>
            <a:r>
              <a:rPr sz="1350" b="1">
                <a:solidFill>
                  <a:srgbClr val="D27E54"/>
                </a:solidFill>
              </a:rPr>
              <a:t>可验证输出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0788C-981C-45FD-8F9F-AE42ED01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286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E4A"/>
                </a:solidFill>
              </a:defRPr>
            </a:pPr>
            <a:r>
              <a:rPr sz="1725" b="1">
                <a:solidFill>
                  <a:srgbClr val="153E4A"/>
                </a:solidFill>
              </a:rPr>
              <a:t>counts</a:t>
            </a:r>
          </a:p>
          <a:p xmlns:a="http://schemas.openxmlformats.org/drawingml/2006/main">
            <a:pPr>
              <a:defRPr sz="1725" b="1">
                <a:solidFill>
                  <a:srgbClr val="153E4A"/>
                </a:solidFill>
              </a:defRPr>
            </a:pPr>
            <a:r>
              <a:rPr sz="1725" b="1">
                <a:solidFill>
                  <a:srgbClr val="153E4A"/>
                </a:solidFill>
              </a:rPr>
              <a:t>first divergence</a:t>
            </a:r>
          </a:p>
          <a:p xmlns:a="http://schemas.openxmlformats.org/drawingml/2006/main">
            <a:pPr>
              <a:defRPr sz="1725" b="1">
                <a:solidFill>
                  <a:srgbClr val="153E4A"/>
                </a:solidFill>
              </a:defRPr>
            </a:pPr>
            <a:r>
              <a:rPr sz="1725" b="1">
                <a:solidFill>
                  <a:srgbClr val="153E4A"/>
                </a:solidFill>
              </a:rPr>
              <a:t>final distribution distance</a:t>
            </a:r>
          </a:p>
          <a:p xmlns:a="http://schemas.openxmlformats.org/drawingml/2006/main">
            <a:pPr>
              <a:defRPr sz="1725" b="1">
                <a:solidFill>
                  <a:srgbClr val="153E4A"/>
                </a:solidFill>
              </a:defRPr>
            </a:pPr>
            <a:r>
              <a:rPr sz="1725" b="1">
                <a:solidFill>
                  <a:srgbClr val="153E4A"/>
                </a:solidFill>
              </a:rPr>
              <a:t>scope boundary</a:t>
            </a:r>
          </a:p>
          <a:p xmlns:a="http://schemas.openxmlformats.org/drawingml/2006/main">
            <a:pPr>
              <a:defRPr sz="1725" b="1">
                <a:solidFill>
                  <a:srgbClr val="153E4A"/>
                </a:solidFill>
              </a:defRPr>
            </a:pPr>
            <a:r>
              <a:rPr sz="1725" b="1">
                <a:solidFill>
                  <a:srgbClr val="153E4A"/>
                </a:solidFill>
              </a:rPr>
              <a:t>replay request</a:t>
            </a:r>
          </a:p>
          <a:p xmlns:a="http://schemas.openxmlformats.org/drawingml/2006/main">
            <a:pPr>
              <a:defRPr sz="1725" b="1">
                <a:solidFill>
                  <a:srgbClr val="153E4A"/>
                </a:solidFill>
              </a:defRPr>
            </a:pPr>
            <a:r>
              <a:rPr sz="1725" b="1">
                <a:solidFill>
                  <a:srgbClr val="153E4A"/>
                </a:solidFill>
              </a:rPr>
              <a:t>content-addressed story contract</a:t>
            </a:r>
          </a:p>
        </p:txBody>
      </p:sp>
    </p:spTree>
    <p:extLst>
      <p:ext uri="{BB962C8B-B14F-4D97-AF65-F5344CB8AC3E}">
        <p14:creationId xmlns:p14="http://schemas.microsoft.com/office/powerpoint/2010/main" val="4166409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7D0D4-9099-47A1-8EC6-3B5A7EE4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27E54"/>
                </a:solidFill>
              </a:defRPr>
            </a:pPr>
            <a:r>
              <a:rPr sz="900" b="1">
                <a:solidFill>
                  <a:srgbClr val="D27E54"/>
                </a:solidFill>
              </a:rPr>
              <a:t>HOW TO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28B3C-8379-462A-952B-43530D6C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3E4A"/>
                </a:solidFill>
              </a:defRPr>
            </a:pPr>
            <a:r>
              <a:rPr sz="2850" b="1">
                <a:solidFill>
                  <a:srgbClr val="153E4A"/>
                </a:solidFill>
              </a:rPr>
              <a:t>评委五分钟可以走完一条完整路径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5A285-F2B3-449E-B58C-E68B1ACE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37A"/>
                </a:solidFill>
              </a:defRPr>
            </a:pPr>
            <a:r>
              <a:rPr sz="1350">
                <a:solidFill>
                  <a:srgbClr val="58737A"/>
                </a:solidFill>
              </a:rPr>
              <a:t>The repository contains the story, the playable entry, and the technical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CC022-2D64-4461-A551-BBC180C4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E4A"/>
                </a:solidFill>
              </a:defRPr>
            </a:pPr>
            <a:r>
              <a:rPr sz="1800" b="1">
                <a:solidFill>
                  <a:srgbClr val="153E4A"/>
                </a:solidFill>
              </a:rPr>
              <a:t>1  python3 -m loomq.web --host 127.0.0.1 --port 8767</a:t>
            </a:r>
          </a:p>
          <a:p xmlns:a="http://schemas.openxmlformats.org/drawingml/2006/main">
            <a:pPr>
              <a:defRPr sz="1800" b="1">
                <a:solidFill>
                  <a:srgbClr val="153E4A"/>
                </a:solidFill>
              </a:defRPr>
            </a:pPr>
            <a:r>
              <a:rPr sz="1800" b="1">
                <a:solidFill>
                  <a:srgbClr val="153E4A"/>
                </a:solidFill>
              </a:rPr>
              <a:t>2  打开 /game.html</a:t>
            </a:r>
          </a:p>
          <a:p xmlns:a="http://schemas.openxmlformats.org/drawingml/2006/main">
            <a:pPr>
              <a:defRPr sz="1800" b="1">
                <a:solidFill>
                  <a:srgbClr val="153E4A"/>
                </a:solidFill>
              </a:defRPr>
            </a:pPr>
            <a:r>
              <a:rPr sz="1800" b="1">
                <a:solidFill>
                  <a:srgbClr val="153E4A"/>
                </a:solidFill>
              </a:rPr>
              <a:t>3  完成主线调查</a:t>
            </a:r>
          </a:p>
          <a:p xmlns:a="http://schemas.openxmlformats.org/drawingml/2006/main">
            <a:pPr>
              <a:defRPr sz="1800" b="1">
                <a:solidFill>
                  <a:srgbClr val="153E4A"/>
                </a:solidFill>
              </a:defRPr>
            </a:pPr>
            <a:r>
              <a:rPr sz="1800" b="1">
                <a:solidFill>
                  <a:srgbClr val="153E4A"/>
                </a:solidFill>
              </a:rPr>
              <a:t>4  打开《她的第八十年》并运行最小对照</a:t>
            </a:r>
          </a:p>
          <a:p xmlns:a="http://schemas.openxmlformats.org/drawingml/2006/main">
            <a:pPr>
              <a:defRPr sz="1800" b="1">
                <a:solidFill>
                  <a:srgbClr val="153E4A"/>
                </a:solidFill>
              </a:defRPr>
            </a:pPr>
            <a:r>
              <a:rPr sz="1800" b="1">
                <a:solidFill>
                  <a:srgbClr val="153E4A"/>
                </a:solidFill>
              </a:rPr>
              <a:t>5  返回 / 查看 ProofTrace、Witness Chain 和 Hybrid 证书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B7EA0-3C0F-4C94-8457-D0CF048B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09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D2E1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4A9D3-51E0-42B4-988C-655305AE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43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A4A34"/>
                </a:solidFill>
              </a:defRPr>
            </a:pPr>
            <a:r>
              <a:rPr sz="1350" b="1">
                <a:solidFill>
                  <a:srgbClr val="8A4A34"/>
                </a:solidFill>
              </a:rPr>
              <a:t>所有故事材料位于 starter_kit/evidence/story/，主游戏位于 starter_kit/web/game.html。</a:t>
            </a:r>
          </a:p>
        </p:txBody>
      </p:sp>
    </p:spTree>
    <p:extLst>
      <p:ext uri="{BB962C8B-B14F-4D97-AF65-F5344CB8AC3E}">
        <p14:creationId xmlns:p14="http://schemas.microsoft.com/office/powerpoint/2010/main" val="2790589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3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2379b4aa8435e"/>
          <a:srcRect xmlns:a="http://schemas.openxmlformats.org/drawingml/2006/main" l="24074" t="0" r="240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CB54C-49CF-4984-BF4D-CBEB1E86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5FBF8"/>
                </a:solidFill>
              </a:defRPr>
            </a:pPr>
            <a:r>
              <a:rPr sz="2925" b="1">
                <a:solidFill>
                  <a:srgbClr val="F5FBF8"/>
                </a:solidFill>
              </a:rPr>
              <a:t>钢铁会留下来。</a:t>
            </a:r>
          </a:p>
          <a:p xmlns:a="http://schemas.openxmlformats.org/drawingml/2006/main">
            <a:pPr>
              <a:defRPr sz="2925" b="1">
                <a:solidFill>
                  <a:srgbClr val="F5FBF8"/>
                </a:solidFill>
              </a:defRPr>
            </a:pPr>
            <a:r>
              <a:rPr sz="2925" b="1">
                <a:solidFill>
                  <a:srgbClr val="F5FBF8"/>
                </a:solidFill>
              </a:rPr>
              <a:t>空间站会留下来。</a:t>
            </a:r>
          </a:p>
          <a:p xmlns:a="http://schemas.openxmlformats.org/drawingml/2006/main">
            <a:pPr>
              <a:defRPr sz="2925" b="1">
                <a:solidFill>
                  <a:srgbClr val="F5FBF8"/>
                </a:solidFill>
              </a:defRPr>
            </a:pPr>
            <a:r>
              <a:rPr sz="2925" b="1">
                <a:solidFill>
                  <a:srgbClr val="F5FBF8"/>
                </a:solidFill>
              </a:rPr>
              <a:t>人的生命会结束。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16AFE-0B63-41E1-80C7-4E962CB0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29125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7D0C6"/>
                </a:solidFill>
              </a:defRPr>
            </a:pPr>
            <a:r>
              <a:rPr sz="1575">
                <a:solidFill>
                  <a:srgbClr val="B7D0C6"/>
                </a:solidFill>
              </a:rPr>
              <a:t>沈遥把有限的生命交给一个比自己长久的世界。她没有替世界找到唯一答案，只把下一次判断需要的证据留在原地。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E8DC7-D4A2-46D6-BF66-F1ECDB74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8F36B"/>
                </a:solidFill>
              </a:defRPr>
            </a:pPr>
            <a:r>
              <a:rPr sz="975" b="1">
                <a:solidFill>
                  <a:srgbClr val="E8F36B"/>
                </a:solidFill>
              </a:rPr>
              <a:t>Quantum Atlas · Story / Evidence / Replay</a:t>
            </a:r>
          </a:p>
        </p:txBody>
      </p:sp>
    </p:spTree>
    <p:extLst>
      <p:ext uri="{BB962C8B-B14F-4D97-AF65-F5344CB8AC3E}">
        <p14:creationId xmlns:p14="http://schemas.microsoft.com/office/powerpoint/2010/main" val="1141128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2026-08-25T03:16:12.3910000Z</dcterms:created>
  <dcterms:modified xsi:type="dcterms:W3CDTF">2026-08-25T03:16:12.3910000Z</dcterms:modified>
</coreProperties>
</file>