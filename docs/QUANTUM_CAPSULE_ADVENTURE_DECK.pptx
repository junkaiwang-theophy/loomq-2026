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80de1f41b470b" /><Relationship Type="http://schemas.openxmlformats.org/officeDocument/2006/relationships/extended-properties" Target="/docProps/app.xml" Id="R12f1d9d2f1234ecb" /><Relationship Type="http://schemas.openxmlformats.org/officeDocument/2006/relationships/officeDocument" Target="/ppt/presentation.xml" Id="R8214ac20fe1f4f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8df55f6a64a97"/>
  </p:sldMasterIdLst>
  <p:notesMasterIdLst>
    <p:notesMasterId xmlns:r="http://schemas.openxmlformats.org/officeDocument/2006/relationships" r:id="R1c97ac9d98e34183"/>
  </p:notesMasterIdLst>
  <p:sldIdLst>
    <p:sldId xmlns:r="http://schemas.openxmlformats.org/officeDocument/2006/relationships" id="256" r:id="Rce98271fd4874322"/>
    <p:sldId xmlns:r="http://schemas.openxmlformats.org/officeDocument/2006/relationships" id="257" r:id="R0859851c28f54662"/>
    <p:sldId xmlns:r="http://schemas.openxmlformats.org/officeDocument/2006/relationships" id="258" r:id="R6d3dcc7a93fd4864"/>
    <p:sldId xmlns:r="http://schemas.openxmlformats.org/officeDocument/2006/relationships" id="259" r:id="R33cd45fc4edd4dc2"/>
    <p:sldId xmlns:r="http://schemas.openxmlformats.org/officeDocument/2006/relationships" id="260" r:id="R5c061f1afe114a8f"/>
    <p:sldId xmlns:r="http://schemas.openxmlformats.org/officeDocument/2006/relationships" id="261" r:id="R5b3c19771ead49b8"/>
    <p:sldId xmlns:r="http://schemas.openxmlformats.org/officeDocument/2006/relationships" id="262" r:id="R49d20b83753c481a"/>
    <p:sldId xmlns:r="http://schemas.openxmlformats.org/officeDocument/2006/relationships" id="263" r:id="Rfc321601c3f24f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c340c255b4bbf" /><Relationship Type="http://schemas.openxmlformats.org/officeDocument/2006/relationships/slideMaster" Target="/ppt/slideMasters/slideMaster1.xml" Id="Rbde8df55f6a64a97" /><Relationship Type="http://schemas.openxmlformats.org/officeDocument/2006/relationships/notesMaster" Target="/ppt/notesMasters/notesMaster1.xml" Id="R1c97ac9d98e34183" /><Relationship Type="http://schemas.openxmlformats.org/officeDocument/2006/relationships/presProps" Target="/ppt/presProps.xml" Id="R46554394fa704578" /><Relationship Type="http://schemas.openxmlformats.org/officeDocument/2006/relationships/tableStyles" Target="/ppt/tableStyles.xml" Id="R21bd05f8757e4feb" /><Relationship Type="http://schemas.openxmlformats.org/officeDocument/2006/relationships/slide" Target="/ppt/slides/slide1.xml" Id="Rce98271fd4874322" /><Relationship Type="http://schemas.openxmlformats.org/officeDocument/2006/relationships/slide" Target="/ppt/slides/slide2.xml" Id="R0859851c28f54662" /><Relationship Type="http://schemas.openxmlformats.org/officeDocument/2006/relationships/slide" Target="/ppt/slides/slide3.xml" Id="R6d3dcc7a93fd4864" /><Relationship Type="http://schemas.openxmlformats.org/officeDocument/2006/relationships/slide" Target="/ppt/slides/slide4.xml" Id="R33cd45fc4edd4dc2" /><Relationship Type="http://schemas.openxmlformats.org/officeDocument/2006/relationships/slide" Target="/ppt/slides/slide5.xml" Id="R5c061f1afe114a8f" /><Relationship Type="http://schemas.openxmlformats.org/officeDocument/2006/relationships/slide" Target="/ppt/slides/slide6.xml" Id="R5b3c19771ead49b8" /><Relationship Type="http://schemas.openxmlformats.org/officeDocument/2006/relationships/slide" Target="/ppt/slides/slide7.xml" Id="R49d20b83753c481a" /><Relationship Type="http://schemas.openxmlformats.org/officeDocument/2006/relationships/slide" Target="/ppt/slides/slide8.xml" Id="Rfc321601c3f24f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16368a68d1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d334a1b1d4fee" /><Relationship Type="http://schemas.openxmlformats.org/officeDocument/2006/relationships/notesMaster" Target="/ppt/notesMasters/notesMaster1.xml" Id="R4a8ba6fa841344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d02d79b7a47c2" /><Relationship Type="http://schemas.openxmlformats.org/officeDocument/2006/relationships/notesMaster" Target="/ppt/notesMasters/notesMaster1.xml" Id="Rd1e195a0887b4c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f8e21b16640a5" /><Relationship Type="http://schemas.openxmlformats.org/officeDocument/2006/relationships/notesMaster" Target="/ppt/notesMasters/notesMaster1.xml" Id="Rf96bbd2bd75f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ef74bfa024d97" /><Relationship Type="http://schemas.openxmlformats.org/officeDocument/2006/relationships/notesMaster" Target="/ppt/notesMasters/notesMaster1.xml" Id="R24aab2b1c10b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246164ae5f4f32" /><Relationship Type="http://schemas.openxmlformats.org/officeDocument/2006/relationships/notesMaster" Target="/ppt/notesMasters/notesMaster1.xml" Id="R6f97b45bc9554b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7d21a36524477e" /><Relationship Type="http://schemas.openxmlformats.org/officeDocument/2006/relationships/notesMaster" Target="/ppt/notesMasters/notesMaster1.xml" Id="Raac9a4b220654e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6b2b5b132f462d" /><Relationship Type="http://schemas.openxmlformats.org/officeDocument/2006/relationships/notesMaster" Target="/ppt/notesMasters/notesMaster1.xml" Id="Rb082a7ea4e63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dd023c59c44a28" /><Relationship Type="http://schemas.openxmlformats.org/officeDocument/2006/relationships/notesMaster" Target="/ppt/notesMasters/notesMaster1.xml" Id="R2b76e6796b4646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docs/QUANTUM_CAPSULE_ADVENTURE_DESIGN.md; visual asset: starter_kit/web/assets/quantum-atlas-map.png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 source: docs/QUANTUM_CAPSULE_ADVENTURE_DESIGN.md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Technical contract: starter_kit/STORY_WORLD.md; starter_kit/PROOFTRACE.md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 source: docs/QUANTUM_CAPSULE_ADVENTURE_DESIGN.md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Existing visual: starter_kit/web/assets/quantum-atlas-map.png; design source: docs/QUANTUM_CAPSULE_ADVENTURE_DESIGN.md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Technical source: starter_kit/README.md; starter_kit/evidence/README.md; design source: docs/QUANTUM_CAPSULE_ADVENTURE_DESIGN.md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 source: docs/QUANTUM_CAPSULE_ADVENTURE_DESIGN.md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 source: docs/QUANTUM_CAPSULE_ADVENTURE_DESIGN.md; existing contracts: starter_kit/STORY_WORLD.md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e1755a18b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21b07acf24fcd" /><Relationship Type="http://schemas.openxmlformats.org/officeDocument/2006/relationships/slideLayout" Target="/ppt/slideLayouts/slideLayout1.xml" Id="Rd4891aed7a56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91aed7a56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2cd2848be4da9" /><Relationship Type="http://schemas.openxmlformats.org/officeDocument/2006/relationships/image" Target="/ppt/media/image.png" Id="Rd42b116374d64205" /><Relationship Type="http://schemas.openxmlformats.org/officeDocument/2006/relationships/notesSlide" Target="/ppt/notesSlides/notesSlide1.xml" Id="R03d9af509904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03c35a534a8b" /><Relationship Type="http://schemas.openxmlformats.org/officeDocument/2006/relationships/notesSlide" Target="/ppt/notesSlides/notesSlide2.xml" Id="R97a548f0132e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57d4c01a94291" /><Relationship Type="http://schemas.openxmlformats.org/officeDocument/2006/relationships/notesSlide" Target="/ppt/notesSlides/notesSlide3.xml" Id="Rde7f8e0d2d17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62294f16d4c52" /><Relationship Type="http://schemas.openxmlformats.org/officeDocument/2006/relationships/notesSlide" Target="/ppt/notesSlides/notesSlide4.xml" Id="R3951d62767d543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b45b86b4a46c2" /><Relationship Type="http://schemas.openxmlformats.org/officeDocument/2006/relationships/image" Target="/ppt/media/image2.png" Id="Rccdd78f441b64de2" /><Relationship Type="http://schemas.openxmlformats.org/officeDocument/2006/relationships/notesSlide" Target="/ppt/notesSlides/notesSlide5.xml" Id="Rf765f0d8a5c247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51f7ed8994b92" /><Relationship Type="http://schemas.openxmlformats.org/officeDocument/2006/relationships/notesSlide" Target="/ppt/notesSlides/notesSlide6.xml" Id="Rd9657dceb6e845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404deadd44f94" /><Relationship Type="http://schemas.openxmlformats.org/officeDocument/2006/relationships/notesSlide" Target="/ppt/notesSlides/notesSlide7.xml" Id="Rdc5adfd2d40845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0cf00cb3f4814" /><Relationship Type="http://schemas.openxmlformats.org/officeDocument/2006/relationships/notesSlide" Target="/ppt/notesSlides/notesSlide8.xml" Id="R957df9614b6e4a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b116374d64205"/>
          <a:srcRect xmlns:a="http://schemas.openxmlformats.org/drawingml/2006/main" l="18056" t="0" r="18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53FB4-9265-4765-9906-2B066AF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F2532-C1B8-46B2-85DA-43710893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E6FF"/>
                </a:solidFill>
              </a:defRPr>
            </a:pPr>
            <a:r>
              <a:rPr sz="1050" b="1">
                <a:solidFill>
                  <a:srgbClr val="63E6FF"/>
                </a:solidFill>
              </a:rPr>
              <a:t>LOOMQ  /  GAME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B0A85-5922-4AD8-AD94-8FD2070E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8F1FA"/>
                </a:solidFill>
              </a:defRPr>
            </a:pPr>
            <a:r>
              <a:rPr sz="3900" b="1">
                <a:solidFill>
                  <a:srgbClr val="E8F1FA"/>
                </a:solidFill>
              </a:rPr>
              <a:t>Quantum Capsule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6047-BAFD-4DE7-9A3B-1725F4C3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166"/>
                </a:solidFill>
              </a:defRPr>
            </a:pPr>
            <a:r>
              <a:rPr sz="1950" b="1">
                <a:solidFill>
                  <a:srgbClr val="FFD166"/>
                </a:solidFill>
              </a:rPr>
              <a:t>Leave the capsule, repair the engine, return to the adventure world.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7FB0C-712E-4DC5-AD68-D06A8B2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EB4C9"/>
                </a:solidFill>
              </a:defRPr>
            </a:pPr>
            <a:r>
              <a:rPr sz="1500" b="0">
                <a:solidFill>
                  <a:srgbClr val="9EB4C9"/>
                </a:solidFill>
              </a:rPr>
              <a:t>A unified design for the capsule, quantum-engine repair, existing Quantum World, and the return door.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524DE-5F84-4B8F-9846-40D2197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095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EA5F9-2FFB-464C-BDC8-C2D07359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166"/>
                </a:solidFill>
              </a:defRPr>
            </a:pPr>
            <a:r>
              <a:rPr sz="1050" b="1">
                <a:solidFill>
                  <a:srgbClr val="FFD166"/>
                </a:solidFill>
              </a:rPr>
              <a:t>CORE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3497A-93E8-41FF-9D26-01DF0D10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8F1FA"/>
                </a:solidFill>
              </a:defRPr>
            </a:pPr>
            <a:r>
              <a:rPr sz="1200" b="0">
                <a:solidFill>
                  <a:srgbClr val="E8F1FA"/>
                </a:solidFill>
              </a:rPr>
              <a:t>The adventure base keeps its existing content; the new door only returns home and saves state.</a:t>
            </a:r>
          </a:p>
        </p:txBody>
      </p:sp>
    </p:spTree>
    <p:extLst>
      <p:ext uri="{BB962C8B-B14F-4D97-AF65-F5344CB8AC3E}">
        <p14:creationId xmlns:p14="http://schemas.microsoft.com/office/powerpoint/2010/main" val="12952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9771F-ABDD-4B4C-BD1D-3175C483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01 / 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8F506-0CF0-48BB-85D1-A48A97C5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Give direction before terminology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494D6-156F-4CF9-A18E-1C97B92A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After the cover, players enter the home port and make a visible choice within 30 seconds.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605D-5E3A-442E-95F1-D14966C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319AF-AC21-4D30-B9D0-7592045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EMERGENCY ALERT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12638-633A-4328-8E4A-19E093E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8F1FA"/>
                </a:solidFill>
              </a:defRPr>
            </a:pPr>
            <a:r>
              <a:rPr sz="1500" b="1">
                <a:solidFill>
                  <a:srgbClr val="E8F1FA"/>
                </a:solidFill>
              </a:rPr>
              <a:t>ENGINE BRANCHES UNSYNCED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3070F-2405-48F4-8396-CA01C1F4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EB4C9"/>
                </a:solidFill>
              </a:defRPr>
            </a:pPr>
            <a:r>
              <a:rPr sz="1200" b="0">
                <a:solidFill>
                  <a:srgbClr val="9EB4C9"/>
                </a:solidFill>
              </a:rPr>
              <a:t>Alert → engine bay</a:t>
            </a:r>
          </a:p>
          <a:p xmlns:a="http://schemas.openxmlformats.org/drawingml/2006/main">
            <a:pPr>
              <a:defRPr sz="1200" b="0">
                <a:solidFill>
                  <a:srgbClr val="9EB4C9"/>
                </a:solidFill>
              </a:defRPr>
            </a:pPr>
            <a:r>
              <a:rPr sz="1200" b="0">
                <a:solidFill>
                  <a:srgbClr val="9EB4C9"/>
                </a:solidFill>
              </a:rPr>
              <a:t>Sound can be skipped</a:t>
            </a:r>
          </a:p>
          <a:p xmlns:a="http://schemas.openxmlformats.org/drawingml/2006/main">
            <a:pPr>
              <a:defRPr sz="1200" b="0">
                <a:solidFill>
                  <a:srgbClr val="9EB4C9"/>
                </a:solidFill>
              </a:defRPr>
            </a:pPr>
            <a:r>
              <a:rPr sz="1200" b="0">
                <a:solidFill>
                  <a:srgbClr val="9EB4C9"/>
                </a:solidFill>
              </a:rPr>
              <a:t>Motion can be reduced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D32DD-BFBE-4FCA-95C7-2525A40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E6FF"/>
                </a:solidFill>
              </a:defRPr>
            </a:pPr>
            <a:r>
              <a:rPr sz="1875" b="1">
                <a:solidFill>
                  <a:srgbClr val="63E6FF"/>
                </a:solidFill>
              </a:rPr>
              <a:t>THE FIRST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4D601-4DFD-4F95-BA67-C5ABF6E7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8F1FA"/>
                </a:solidFill>
              </a:defRPr>
            </a:pPr>
            <a:r>
              <a:rPr sz="2250" b="1">
                <a:solidFill>
                  <a:srgbClr val="E8F1FA"/>
                </a:solidFill>
              </a:rPr>
              <a:t>Click the engine bay. Open three concept cards:</a:t>
            </a:r>
          </a:p>
          <a:p xmlns:a="http://schemas.openxmlformats.org/drawingml/2006/main">
            <a:pPr>
              <a:defRPr sz="2250" b="1">
                <a:solidFill>
                  <a:srgbClr val="E8F1FA"/>
                </a:solidFill>
              </a:defRPr>
            </a:pPr>
            <a:r>
              <a:rPr sz="2250" b="1">
                <a:solidFill>
                  <a:srgbClr val="E8F1FA"/>
                </a:solidFill>
              </a:rPr>
              <a:t>H  ·  CX  · 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9C995-D8E5-429F-B227-44D3978E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B4C9"/>
                </a:solidFill>
              </a:defRPr>
            </a:pPr>
            <a:r>
              <a:rPr sz="1425" b="0">
                <a:solidFill>
                  <a:srgbClr val="9EB4C9"/>
                </a:solidFill>
              </a:rPr>
              <a:t>A runnable offline path comes first; model setup and hardware credentials stay behind later layers.</a:t>
            </a:r>
          </a:p>
        </p:txBody>
      </p:sp>
    </p:spTree>
    <p:extLst>
      <p:ext uri="{BB962C8B-B14F-4D97-AF65-F5344CB8AC3E}">
        <p14:creationId xmlns:p14="http://schemas.microsoft.com/office/powerpoint/2010/main" val="2131747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C7325-35D2-462A-9847-2AA8FA3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02 /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A7A8B-798E-46F4-A530-9A162E0A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Repair is a minimal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DBD99-F832-4056-8423-E0DD0A19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Confirm a prediction, run the A/B comparison, see the first divergence, then earn the first passport.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0415F-E73E-48E5-A873-CCB61B8F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048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AD0AC-525A-4BD4-8376-628C859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E6FF"/>
                </a:solidFill>
              </a:defRPr>
            </a:pPr>
            <a:r>
              <a:rPr sz="1500" b="1">
                <a:solidFill>
                  <a:srgbClr val="63E6FF"/>
                </a:solidFill>
              </a:rPr>
              <a:t>A  KEEP CX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67942-8792-4135-92DB-F1C19508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F1FA"/>
                </a:solidFill>
              </a:defRPr>
            </a:pPr>
            <a:r>
              <a:rPr sz="1875" b="0">
                <a:solidFill>
                  <a:srgbClr val="E8F1FA"/>
                </a:solidFill>
              </a:rPr>
              <a:t>00  ██████████████</a:t>
            </a:r>
          </a:p>
          <a:p xmlns:a="http://schemas.openxmlformats.org/drawingml/2006/main">
            <a:pPr>
              <a:defRPr sz="1875" b="0">
                <a:solidFill>
                  <a:srgbClr val="E8F1FA"/>
                </a:solidFill>
              </a:defRPr>
            </a:pPr>
            <a:r>
              <a:rPr sz="1875" b="0">
                <a:solidFill>
                  <a:srgbClr val="E8F1FA"/>
                </a:solidFill>
              </a:rPr>
              <a:t>11  ██████████████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45CDB-749B-4D0E-9EBF-470C190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048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77A7F-4997-4770-9768-FAE2692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B  REMOVE CX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7EAF3-05C2-4BA0-9AEC-38FB64A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00  ███████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01  ███████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10  ███████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11  ███████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E359E-BFFD-4316-98BE-AFE6C4E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</a:defRPr>
            </a:pPr>
            <a:r>
              <a:rPr sz="1725" b="1">
                <a:solidFill>
                  <a:srgbClr val="FFD166"/>
                </a:solidFill>
              </a:rPr>
              <a:t>FIRST DIVERGENCE: g2 · CX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6AC1-8259-4028-81BB-6BEF0FF2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53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A wrong prediction still completes the task; the evidence chain remains replayable.</a:t>
            </a:r>
          </a:p>
        </p:txBody>
      </p:sp>
    </p:spTree>
    <p:extLst>
      <p:ext uri="{BB962C8B-B14F-4D97-AF65-F5344CB8AC3E}">
        <p14:creationId xmlns:p14="http://schemas.microsoft.com/office/powerpoint/2010/main" val="1623957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B564BF-2BE1-4DDA-A336-4E3F441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03 / HOME 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B2D8E-F6CF-474B-B397-FC8AEA22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The capsule is a home port, not a menu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3ED1-8A9F-470A-AEC7-6E1BB203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Each area corresponds to a real user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84B9-2FE7-46EE-A66F-74AEAA8B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D19D9-D692-4A98-B4F4-8695D66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E6FF"/>
                </a:solidFill>
              </a:defRPr>
            </a:pPr>
            <a:r>
              <a:rPr sz="1500" b="1">
                <a:solidFill>
                  <a:srgbClr val="63E6FF"/>
                </a:solidFill>
              </a:rPr>
              <a:t>HANDBOOK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09846-BAB5-47D0-9724-4A5097DA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Understand the task</a:t>
            </a:r>
          </a:p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Concepts appear in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ED54-AEE3-4312-A2FC-5B35702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A401-37D4-4208-92AB-C8F96DA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E6FF"/>
                </a:solidFill>
              </a:defRPr>
            </a:pPr>
            <a:r>
              <a:rPr sz="1500" b="1">
                <a:solidFill>
                  <a:srgbClr val="63E6FF"/>
                </a:solidFill>
              </a:rPr>
              <a:t>CREW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8DC8B-49DA-4DA0-AE83-DA62B421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76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Save progress, passports</a:t>
            </a:r>
          </a:p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and hardware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C59AD-9C06-44B1-A2FE-9EE8565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0650A-EB65-4EBC-BF9A-E6A1248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E6FF"/>
                </a:solidFill>
              </a:defRPr>
            </a:pPr>
            <a:r>
              <a:rPr sz="1500" b="1">
                <a:solidFill>
                  <a:srgbClr val="63E6FF"/>
                </a:solidFill>
              </a:rPr>
              <a:t>MISSION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5BDBA-132B-45D2-A0A5-4777734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Show the next action</a:t>
            </a:r>
          </a:p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and expected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930C5-024D-4FFE-8490-ED3DD31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10000"/>
            <a:ext cx="4857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CB063-C1B0-4340-B110-15926484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576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QUANTUM CONSOLE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A33A2-3332-4290-8EB2-91CF1C8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910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Quick lab → free demo</a:t>
            </a:r>
          </a:p>
          <a:p xmlns:a="http://schemas.openxmlformats.org/drawingml/2006/main">
            <a:pPr>
              <a:defRPr sz="1275" b="0">
                <a:solidFill>
                  <a:srgbClr val="E8F1FA"/>
                </a:solidFill>
              </a:defRPr>
            </a:pPr>
            <a:r>
              <a:rPr sz="1275" b="0">
                <a:solidFill>
                  <a:srgbClr val="E8F1FA"/>
                </a:solidFill>
              </a:rPr>
              <a:t>→ optional hardware</a:t>
            </a:r>
          </a:p>
        </p:txBody>
      </p:sp>
    </p:spTree>
    <p:extLst>
      <p:ext uri="{BB962C8B-B14F-4D97-AF65-F5344CB8AC3E}">
        <p14:creationId xmlns:p14="http://schemas.microsoft.com/office/powerpoint/2010/main" val="1765629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DBF18-066A-4611-AAA7-A68A6FC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04 / ADVENTURE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E17CE-E4DC-40EF-8439-932686F3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The adventure base keeps telling its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880FC-8FD5-4808-846B-7D89E57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It is not a second game: it is the existing Quantum Atlas content with a visible return door.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d78f441b64de2"/>
          <a:srcRect xmlns:a="http://schemas.openxmlformats.org/drawingml/2006/main" l="833" t="0" r="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47875"/>
            <a:ext cx="5619750" cy="3810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7677-8B24-424F-8C91-815E43E8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286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53E5-B991-4C2D-8128-5C0973C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E6FF"/>
                </a:solidFill>
              </a:defRPr>
            </a:pPr>
            <a:r>
              <a:rPr sz="1650" b="1">
                <a:solidFill>
                  <a:srgbClr val="63E6FF"/>
                </a:solidFill>
              </a:rPr>
              <a:t>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22584-0B12-4F3E-B8B4-7BBFBA20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F1FA"/>
                </a:solidFill>
              </a:defRPr>
            </a:pPr>
            <a:r>
              <a:rPr sz="1650" b="1">
                <a:solidFill>
                  <a:srgbClr val="E8F1FA"/>
                </a:solidFill>
              </a:rPr>
              <a:t>Enter from the capsule</a:t>
            </a:r>
          </a:p>
          <a:p xmlns:a="http://schemas.openxmlformats.org/drawingml/2006/main">
            <a:pPr>
              <a:defRPr sz="1650" b="1">
                <a:solidFill>
                  <a:srgbClr val="E8F1FA"/>
                </a:solidFill>
              </a:defRPr>
            </a:pPr>
            <a:r>
              <a:rPr sz="1650" b="1">
                <a:solidFill>
                  <a:srgbClr val="E8F1FA"/>
                </a:solidFill>
              </a:rPr>
              <a:t>Resume the last unfinished chapter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92502-330D-43E1-B96C-F1C9BE3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RETURN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BB6C9-9036-421B-BD91-C3F77A07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F1FA"/>
                </a:solidFill>
              </a:defRPr>
            </a:pPr>
            <a:r>
              <a:rPr sz="1650" b="1">
                <a:solidFill>
                  <a:srgbClr val="E8F1FA"/>
                </a:solidFill>
              </a:rPr>
              <a:t>A door that stays visible</a:t>
            </a:r>
          </a:p>
          <a:p xmlns:a="http://schemas.openxmlformats.org/drawingml/2006/main">
            <a:pPr>
              <a:defRPr sz="1650" b="1">
                <a:solidFill>
                  <a:srgbClr val="E8F1FA"/>
                </a:solidFill>
              </a:defRPr>
            </a:pPr>
            <a:r>
              <a:rPr sz="1650" b="1">
                <a:solidFill>
                  <a:srgbClr val="E8F1FA"/>
                </a:solidFill>
              </a:rPr>
              <a:t>Save case / chapter / passport</a:t>
            </a:r>
          </a:p>
        </p:txBody>
      </p:sp>
    </p:spTree>
    <p:extLst>
      <p:ext uri="{BB962C8B-B14F-4D97-AF65-F5344CB8AC3E}">
        <p14:creationId xmlns:p14="http://schemas.microsoft.com/office/powerpoint/2010/main" val="1349514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66025-55D8-43D8-BEF0-DD0BADD4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05 /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8BE1A-8577-431F-B9E3-5D2DB0E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Hardware is an optional reality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A324F-034F-4C3E-BABC-70694943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The local path is always available; hardware requires explicit account or token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7777E-097D-4F1F-84FE-BCEE1796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1E556-C0E3-460F-A1B6-7216C4E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E6FF"/>
                </a:solidFill>
              </a:defRPr>
            </a:pPr>
            <a:r>
              <a:rPr sz="1800" b="1">
                <a:solidFill>
                  <a:srgbClr val="63E6FF"/>
                </a:solidFill>
              </a:rPr>
              <a:t>QUICK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1BD89-FB28-4FD0-B60B-D3276DE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Bell / GHZ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自然语言 → QASM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本地模拟器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77C48-C402-40BD-9F0C-55946CD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49CF-2555-4A27-9EDC-5B12CE65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E6FF"/>
                </a:solidFill>
              </a:defRPr>
            </a:pPr>
            <a:r>
              <a:rPr sz="1800" b="1">
                <a:solidFill>
                  <a:srgbClr val="63E6FF"/>
                </a:solidFill>
              </a:rPr>
              <a:t>FREE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65D19-7443-4186-877E-953D7D7E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编辑白名单 QASM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IR / ProofTrace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分支证书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73F39-96BF-4980-BA29-E6598D1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4A91A-0B3B-41E0-B10A-F266F092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D166"/>
                </a:solidFill>
              </a:defRPr>
            </a:pPr>
            <a:r>
              <a:rPr sz="1800" b="1">
                <a:solidFill>
                  <a:srgbClr val="FFD166"/>
                </a:solidFill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0BB7A-52DE-4046-9AE6-989A322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OriginQ / SpinQ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job ID + 时间戳</a:t>
            </a:r>
          </a:p>
          <a:p xmlns:a="http://schemas.openxmlformats.org/drawingml/2006/main">
            <a:pPr>
              <a:defRPr sz="1650" b="0">
                <a:solidFill>
                  <a:srgbClr val="E8F1FA"/>
                </a:solidFill>
              </a:defRPr>
            </a:pPr>
            <a:r>
              <a:rPr sz="1650" b="0">
                <a:solidFill>
                  <a:srgbClr val="E8F1FA"/>
                </a:solidFill>
              </a:rPr>
              <a:t>原始 JSON 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57886-1EF3-4688-A575-EB93263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The UI must label: local_sim ≠ hardware_run</a:t>
            </a:r>
          </a:p>
        </p:txBody>
      </p:sp>
    </p:spTree>
    <p:extLst>
      <p:ext uri="{BB962C8B-B14F-4D97-AF65-F5344CB8AC3E}">
        <p14:creationId xmlns:p14="http://schemas.microsoft.com/office/powerpoint/2010/main" val="896921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A1CED-8053-43CD-832C-61C6BE7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06 /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75864-3E9D-45EF-AD04-1CC28924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Understand it in three minutes, then return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3B3A0-BBFB-47DC-84C1-90F87D9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The review path shows learning, experiment, story, and evidence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72D0-C4E7-4E19-BEE2-E775D735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7192D-879E-4771-9056-5308D4C0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F3C1-C822-4802-B610-BC026C6E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警报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ACAC4-3109-4EC1-B08D-60E1956E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4B229-ECFF-48ED-86DD-905F2BE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A3C90-952C-4995-8BBB-76533C8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18B74-3E4F-41B3-8383-D463F1D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三张概念卡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1397-6312-41BC-963A-41E085E6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F8C52-2EE1-45D6-A2B9-43E2F6A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8C46D-C37A-4A2F-9BAB-882B462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C91BA-17D6-40E9-8902-5258706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A/B 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DEE74-5A3F-4723-AEDD-3B71BF4C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06D70-D0E1-41C8-B66B-372EA18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B3EB6-0A1D-4E31-B94F-2D02A59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71425"/>
                </a:solidFill>
              </a:defRPr>
            </a:pPr>
            <a:r>
              <a:rPr sz="1050" b="1">
                <a:solidFill>
                  <a:srgbClr val="07142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A82D9-37D4-4141-97DD-775BAC1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425"/>
                </a:solidFill>
              </a:defRPr>
            </a:pPr>
            <a:r>
              <a:rPr sz="1200" b="1">
                <a:solidFill>
                  <a:srgbClr val="071425"/>
                </a:solidFill>
              </a:rPr>
              <a:t>g2 · CX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7CF13-6F70-4641-A388-56DB879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7C71C-52A2-4FA0-9265-8EB605B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4FE52-2BFD-43DE-8659-30D06140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6AB94-3CE9-4393-B7A6-DBED551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第一张护照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6580B-868E-42F0-965C-F0522F5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F8F31-4FB7-48B0-8573-23EDA04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A813B-F4FB-40CA-A228-5FE5CA0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A66A4-D152-43C5-B3FF-5514F419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进入基地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EDA3E-7D4F-4A5A-9C64-98DBB978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819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B4C9"/>
                </a:solidFill>
              </a:defRPr>
            </a:pPr>
            <a:r>
              <a:rPr sz="1800" b="1">
                <a:solidFill>
                  <a:srgbClr val="9EB4C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27169-1BAB-437D-A027-D49862F3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23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E2234"/>
          </a:solidFill>
          <a:ln xmlns:a="http://schemas.openxmlformats.org/drawingml/2006/main" w="9525">
            <a:solidFill>
              <a:srgbClr val="1D465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8218C-B42D-48D0-AE3F-DB408E74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EB4C9"/>
                </a:solidFill>
              </a:defRPr>
            </a:pPr>
            <a:r>
              <a:rPr sz="1050" b="1">
                <a:solidFill>
                  <a:srgbClr val="9EB4C9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FC900-BD57-4064-82FC-F159C206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289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8F1FA"/>
                </a:solidFill>
              </a:defRPr>
            </a:pPr>
            <a:r>
              <a:rPr sz="1200" b="1">
                <a:solidFill>
                  <a:srgbClr val="E8F1FA"/>
                </a:solidFill>
              </a:rPr>
              <a:t>返回舱门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EEF2B0-EA95-499F-840B-4F167F51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F1FA"/>
                </a:solidFill>
              </a:defRPr>
            </a:pPr>
            <a:r>
              <a:rPr sz="1875" b="1">
                <a:solidFill>
                  <a:srgbClr val="E8F1FA"/>
                </a:solidFill>
              </a:rPr>
              <a:t>Result: players know where they are, why they ran it, where evidence came from, and how to return home.</a:t>
            </a:r>
          </a:p>
        </p:txBody>
      </p:sp>
    </p:spTree>
    <p:extLst>
      <p:ext uri="{BB962C8B-B14F-4D97-AF65-F5344CB8AC3E}">
        <p14:creationId xmlns:p14="http://schemas.microsoft.com/office/powerpoint/2010/main" val="1572753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DBCB7-72DF-4220-A0C1-0F0B2229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E6FF"/>
                </a:solidFill>
              </a:defRPr>
            </a:pPr>
            <a:r>
              <a:rPr sz="975" b="1">
                <a:solidFill>
                  <a:srgbClr val="63E6FF"/>
                </a:solidFill>
              </a:rPr>
              <a:t>07 /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337BC-42B4-49CB-8E3E-7BF459F6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F1FA"/>
                </a:solidFill>
              </a:defRPr>
            </a:pPr>
            <a:r>
              <a:rPr sz="2850" b="1">
                <a:solidFill>
                  <a:srgbClr val="E8F1FA"/>
                </a:solidFill>
              </a:rPr>
              <a:t>Connect existing APIs before expanding the scene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A638D-C985-43B2-AFB1-38935C49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B4C9"/>
                </a:solidFill>
              </a:defRPr>
            </a:pPr>
            <a:r>
              <a:rPr sz="1350" b="0">
                <a:solidFill>
                  <a:srgbClr val="9EB4C9"/>
                </a:solidFill>
              </a:rPr>
              <a:t>The capsule shares one evidence chain with Quantum World, ProofTrace, Witness Chain, and the Hybrid certificate.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31C14-A355-42F8-AB18-1B42B9A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E6FF"/>
                </a:solidFill>
              </a:defRPr>
            </a:pPr>
            <a:r>
              <a:rPr sz="1650" b="1">
                <a:solidFill>
                  <a:srgbClr val="63E6FF"/>
                </a:solidFill>
              </a:rPr>
              <a:t>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EAC7-26C7-4C8A-8C0D-DB93787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F1FA"/>
                </a:solidFill>
              </a:defRPr>
            </a:pPr>
            <a:r>
              <a:rPr sz="1800" b="1">
                <a:solidFill>
                  <a:srgbClr val="E8F1FA"/>
                </a:solidFill>
              </a:rPr>
              <a:t>Capsule entry + offline Bell repair</a:t>
            </a:r>
          </a:p>
          <a:p xmlns:a="http://schemas.openxmlformats.org/drawingml/2006/main">
            <a:pPr>
              <a:defRPr sz="1800" b="1">
                <a:solidFill>
                  <a:srgbClr val="E8F1FA"/>
                </a:solidFill>
              </a:defRPr>
            </a:pPr>
            <a:r>
              <a:rPr sz="1800" b="1">
                <a:solidFill>
                  <a:srgbClr val="E8F1FA"/>
                </a:solidFill>
              </a:rPr>
              <a:t>Mission deck + door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7CBD-F3F0-4CB8-AC36-E4C5F801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PHASE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6FE7E-80EB-4F5C-928A-8FE8420E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8F1FA"/>
                </a:solidFill>
              </a:defRPr>
            </a:pPr>
            <a:r>
              <a:rPr sz="1800" b="1">
                <a:solidFill>
                  <a:srgbClr val="E8F1FA"/>
                </a:solidFill>
              </a:rPr>
              <a:t>Three console layers</a:t>
            </a:r>
          </a:p>
          <a:p xmlns:a="http://schemas.openxmlformats.org/drawingml/2006/main">
            <a:pPr>
              <a:defRPr sz="1800" b="1">
                <a:solidFill>
                  <a:srgbClr val="E8F1FA"/>
                </a:solidFill>
              </a:defRPr>
            </a:pPr>
            <a:r>
              <a:rPr sz="1800" b="1">
                <a:solidFill>
                  <a:srgbClr val="E8F1FA"/>
                </a:solidFill>
              </a:rPr>
              <a:t>Hardware evidence + replay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CA4D-1535-4E81-8F63-3613AD4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990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23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B81D0-D377-4564-9117-1B89584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8F1FA"/>
                </a:solidFill>
              </a:defRPr>
            </a:pPr>
            <a:r>
              <a:rPr sz="1650" b="1">
                <a:solidFill>
                  <a:srgbClr val="E8F1FA"/>
                </a:solidFill>
              </a:rPr>
              <a:t>Acceptance line: existing adventure content remains; the return door keeps progress; local and hardware results stay distinct.</a:t>
            </a:r>
          </a:p>
        </p:txBody>
      </p:sp>
    </p:spTree>
    <p:extLst>
      <p:ext uri="{BB962C8B-B14F-4D97-AF65-F5344CB8AC3E}">
        <p14:creationId xmlns:p14="http://schemas.microsoft.com/office/powerpoint/2010/main" val="917178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2026-08-25T03:25:36.2460000Z</dcterms:created>
  <dcterms:modified xsi:type="dcterms:W3CDTF">2026-08-25T03:25:36.2460000Z</dcterms:modified>
</coreProperties>
</file>